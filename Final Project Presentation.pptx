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6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A6FF"/>
    <a:srgbClr val="0A2A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0D61D-97F1-4C4E-98D8-5072B333BFB1}" type="datetimeFigureOut">
              <a:rPr lang="en-GB" smtClean="0"/>
              <a:t>10/06/2026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C8089D-9F0A-4411-ADD5-3D5735AD636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0545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B3613-6052-64C9-65D1-F9AA6AD34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FDC5BC-C0B1-9432-E1E1-BF2836207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9D6A9-382E-A587-7BA5-1BD656BD8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B3C2-F26A-4699-AB94-1E0DA05B4393}" type="datetimeFigureOut">
              <a:rPr lang="en-GB" smtClean="0"/>
              <a:t>09/06/2026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9235C-06B5-9A25-334D-606A1448F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AF6F7-A498-F74F-427B-B38360D7E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9488-81B8-4E63-87A0-AB914E6D7BE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6526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AAE2A-22D5-6D66-5DB4-E1EBBCCC6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3E441-F7E7-0182-2E1D-0FFF6F2A8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1F63D-8EF2-B7DB-7E55-22886C22D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B3C2-F26A-4699-AB94-1E0DA05B4393}" type="datetimeFigureOut">
              <a:rPr lang="en-GB" smtClean="0"/>
              <a:t>09/06/2026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840DC-E156-432D-41F5-D764DB420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BEC61-89A8-319E-BD40-ECEC7E233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9488-81B8-4E63-87A0-AB914E6D7BE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93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2EA20-851E-DE32-EDBE-096784458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38700-2F5D-5B51-A29D-45526E92D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AF775-4C3C-96A6-6442-12178C1DD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B3C2-F26A-4699-AB94-1E0DA05B4393}" type="datetimeFigureOut">
              <a:rPr lang="en-GB" smtClean="0"/>
              <a:t>09/06/2026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E6D0B-9CA2-A7E5-2BD4-FB92F7A0E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74FA1-3DD5-FD57-1A84-7DFD8111D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9488-81B8-4E63-87A0-AB914E6D7BE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0546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0C8A2-BD9E-F4D6-9CB3-834E8E076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5FB35-96CC-1C4F-F851-F532534C6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413AE-BCC3-F024-2319-4F6FDDCE5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EA96BD-D3BB-19CE-8B10-F14D1697E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B3C2-F26A-4699-AB94-1E0DA05B4393}" type="datetimeFigureOut">
              <a:rPr lang="en-GB" smtClean="0"/>
              <a:t>09/06/2026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2AEBB-DB52-EA88-81E1-9B244D79D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D57E1-C0C5-F2D3-A159-BB1454A75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9488-81B8-4E63-87A0-AB914E6D7BE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7634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08B1D-7875-7E9D-F7BC-87FF1A434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6D6EE-F421-B655-4193-2A7E3C2A2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23AAA-968E-7A0E-DF99-7D798A54E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C42EDF-324F-7AF7-455F-F8D23DE112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3696C7-CD4F-3910-EE32-1F0B7FC8BD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11EDA2-50A0-F98A-58BE-DE5E4C2A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B3C2-F26A-4699-AB94-1E0DA05B4393}" type="datetimeFigureOut">
              <a:rPr lang="en-GB" smtClean="0"/>
              <a:t>09/06/2026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51A492-B9C8-3592-53F6-C3EB461E7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4FC554-9A31-1049-E32E-39DF1147D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9488-81B8-4E63-87A0-AB914E6D7BE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7469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DE40-6350-D524-940C-479B91545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DA1B08-324A-5451-5ECA-46EF789C4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B3C2-F26A-4699-AB94-1E0DA05B4393}" type="datetimeFigureOut">
              <a:rPr lang="en-GB" smtClean="0"/>
              <a:t>09/06/2026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94878-424F-A97F-9600-7DDAE9A0E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C243FD-F9C4-9352-BA8B-DA278026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9488-81B8-4E63-87A0-AB914E6D7BE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8935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FA0EB8-F18B-5E19-C3BE-A89815658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B3C2-F26A-4699-AB94-1E0DA05B4393}" type="datetimeFigureOut">
              <a:rPr lang="en-GB" smtClean="0"/>
              <a:t>09/06/2026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24A15A-2B03-6DDD-F1F3-7C2ABD9F1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93BA3-EE0D-A84E-139A-68C532EB9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9488-81B8-4E63-87A0-AB914E6D7BE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007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878FA-09C1-404C-717B-2FCC9006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CFC1E-9E72-FC09-3FC1-48C2535DF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A1BF5-A008-E9AA-5D93-C8761E2C8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A045A-633B-CCB4-6DEE-5F7462B06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B3C2-F26A-4699-AB94-1E0DA05B4393}" type="datetimeFigureOut">
              <a:rPr lang="en-GB" smtClean="0"/>
              <a:t>09/06/2026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8A95E1-A2C1-C02A-AE54-35C7EA148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49EA9-28E1-64F3-E2B5-15E04ACD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9488-81B8-4E63-87A0-AB914E6D7BE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2566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B6524-5656-65E9-3426-A4BFEB3B0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C7912E-DDC2-43DF-84CA-7270A7E90B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C848D-CEB3-DBE3-FB7C-88BE2276C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93A9F-4581-B3D3-0545-FA8E4BAB8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B3C2-F26A-4699-AB94-1E0DA05B4393}" type="datetimeFigureOut">
              <a:rPr lang="en-GB" smtClean="0"/>
              <a:t>09/06/2026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D8A9C4-C413-D97D-193F-D38025236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1A7D9-0E0A-7E00-51EC-FADFDD6D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9488-81B8-4E63-87A0-AB914E6D7BE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8553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0A91E-FD6C-6BA4-0F1C-3E10A245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D933B-FD5D-969F-4F30-73E10D5DC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8F069-5DA4-CF2C-CED2-AD34DBDC5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B3C2-F26A-4699-AB94-1E0DA05B4393}" type="datetimeFigureOut">
              <a:rPr lang="en-GB" smtClean="0"/>
              <a:t>09/06/2026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48AF7-56D0-A18B-9E85-F1EC391D2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EA482-9DAD-3951-7471-338F6FB54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9488-81B8-4E63-87A0-AB914E6D7BE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0122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EA8905-EC60-2095-28D5-EE44B260BC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A5B6F8-B87F-E844-E522-2EF0C4E6F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69EAC-E5BC-1E9C-F586-158EC58D4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B3C2-F26A-4699-AB94-1E0DA05B4393}" type="datetimeFigureOut">
              <a:rPr lang="en-GB" smtClean="0"/>
              <a:t>09/06/2026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D797C-EB35-946F-2C7F-AB65468C9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3621D-B2E4-BE58-EB40-6E8AF4B90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9488-81B8-4E63-87A0-AB914E6D7BE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764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AAC400-15C1-B776-5B71-13A902BB7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15042-A590-AE47-330B-EBFDB5F53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CBEBC-D473-D03B-3163-5D29C52C07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0EB3C2-F26A-4699-AB94-1E0DA05B4393}" type="datetimeFigureOut">
              <a:rPr lang="en-GB" smtClean="0"/>
              <a:t>09/06/2026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052C2-C4C5-D3E9-4D3B-5997B9B69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8E447-4623-5BF8-A880-E2D9901F4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39488-81B8-4E63-87A0-AB914E6D7BE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0804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C736EC-1F9E-5443-1A73-7C0F05BC55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A2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68AC9B-7BEC-67E4-6F2A-1BC80B6FAD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3712028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BD8A1C-E01E-0EC1-6B22-6C78791A5581}"/>
              </a:ext>
            </a:extLst>
          </p:cNvPr>
          <p:cNvSpPr/>
          <p:nvPr/>
        </p:nvSpPr>
        <p:spPr>
          <a:xfrm>
            <a:off x="3712028" y="-17660"/>
            <a:ext cx="8479971" cy="6858000"/>
          </a:xfrm>
          <a:prstGeom prst="rect">
            <a:avLst/>
          </a:prstGeom>
          <a:solidFill>
            <a:srgbClr val="0A2A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CFC018-0D20-629E-704A-A996A8ACB081}"/>
              </a:ext>
            </a:extLst>
          </p:cNvPr>
          <p:cNvSpPr txBox="1"/>
          <p:nvPr/>
        </p:nvSpPr>
        <p:spPr>
          <a:xfrm>
            <a:off x="3973285" y="-79306"/>
            <a:ext cx="7957458" cy="6684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HSRP HIGH AVAILABLITY NETWORK PROJECT</a:t>
            </a:r>
          </a:p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Course: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 Lab </a:t>
            </a:r>
          </a:p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 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 Muhammad Fahad Irshad</a:t>
            </a:r>
          </a:p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</a:t>
            </a:r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(Group 6)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Sumaiya Bibi F2024266340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Rameen Junaid F2024266341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Tayyba Shahzad F2024266348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Eshmal Zahid F2024266755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0A480A-6CD5-7757-56D0-8329AD77875A}"/>
              </a:ext>
            </a:extLst>
          </p:cNvPr>
          <p:cNvSpPr txBox="1"/>
          <p:nvPr/>
        </p:nvSpPr>
        <p:spPr>
          <a:xfrm>
            <a:off x="10025744" y="6362678"/>
            <a:ext cx="2166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 </a:t>
            </a:r>
          </a:p>
        </p:txBody>
      </p:sp>
    </p:spTree>
    <p:extLst>
      <p:ext uri="{BB962C8B-B14F-4D97-AF65-F5344CB8AC3E}">
        <p14:creationId xmlns:p14="http://schemas.microsoft.com/office/powerpoint/2010/main" val="129749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ED2AF4-9D13-C64B-95DB-92BA00E3C1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A66"/>
          </a:solidFill>
          <a:ln>
            <a:solidFill>
              <a:srgbClr val="0A2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549C518F-C00C-57FF-1775-FAC13D622189}"/>
              </a:ext>
            </a:extLst>
          </p:cNvPr>
          <p:cNvSpPr/>
          <p:nvPr/>
        </p:nvSpPr>
        <p:spPr>
          <a:xfrm>
            <a:off x="348340" y="304799"/>
            <a:ext cx="6760031" cy="827315"/>
          </a:xfrm>
          <a:prstGeom prst="homePlat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solidFill>
                  <a:srgbClr val="0A2A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INTODUCTION: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C9447-2706-029D-FF7A-EC5DC4F29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515" y="3702239"/>
            <a:ext cx="5606142" cy="308957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645D3C-1403-9C5D-5F69-4B503FCF5757}"/>
              </a:ext>
            </a:extLst>
          </p:cNvPr>
          <p:cNvSpPr txBox="1"/>
          <p:nvPr/>
        </p:nvSpPr>
        <p:spPr>
          <a:xfrm>
            <a:off x="206826" y="1360716"/>
            <a:ext cx="11832773" cy="270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implements a High Availability Network using HSRP (Hot Standby Router Protocol).</a:t>
            </a:r>
          </a:p>
          <a:p>
            <a:pPr>
              <a:lnSpc>
                <a:spcPct val="200000"/>
              </a:lnSpc>
            </a:pPr>
            <a:r>
              <a:rPr lang="en-GB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>
              <a:lnSpc>
                <a:spcPct val="200000"/>
              </a:lnSpc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the project is to ensure continuous network connectivity and gateway redundancy in case of router failure.</a:t>
            </a:r>
          </a:p>
        </p:txBody>
      </p:sp>
    </p:spTree>
    <p:extLst>
      <p:ext uri="{BB962C8B-B14F-4D97-AF65-F5344CB8AC3E}">
        <p14:creationId xmlns:p14="http://schemas.microsoft.com/office/powerpoint/2010/main" val="106599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E66D67-ED0F-ABA6-B216-AD65E6AB0D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A66"/>
          </a:solidFill>
          <a:ln>
            <a:solidFill>
              <a:srgbClr val="0A2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4D6B410D-3727-23D2-AD10-394A09C28000}"/>
              </a:ext>
            </a:extLst>
          </p:cNvPr>
          <p:cNvSpPr/>
          <p:nvPr/>
        </p:nvSpPr>
        <p:spPr>
          <a:xfrm>
            <a:off x="522514" y="428642"/>
            <a:ext cx="7108372" cy="962041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dirty="0">
                <a:solidFill>
                  <a:srgbClr val="0A2A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597C86-5E5E-7203-2431-9FF77E11D7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15" t="5829" r="14315" b="6442"/>
          <a:stretch>
            <a:fillRect/>
          </a:stretch>
        </p:blipFill>
        <p:spPr>
          <a:xfrm>
            <a:off x="522514" y="1808907"/>
            <a:ext cx="2873828" cy="235505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32DB90-9B26-DBB8-E417-106E31E10C2C}"/>
              </a:ext>
            </a:extLst>
          </p:cNvPr>
          <p:cNvSpPr txBox="1"/>
          <p:nvPr/>
        </p:nvSpPr>
        <p:spPr>
          <a:xfrm>
            <a:off x="4267199" y="1989398"/>
            <a:ext cx="7445829" cy="4269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HSRP for gateway redundancy.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Configure SSH for secure remote access.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ACL-based security controls.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failover and recovery testing.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network connectivity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191591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D7F4A7-2957-DA46-39AD-4ADE3A1B3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" t="6666" r="622" b="41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357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718AFC-F200-39D8-39A2-B4C7F9FA86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A66"/>
          </a:solidFill>
          <a:ln>
            <a:solidFill>
              <a:srgbClr val="0A2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3F797B-53D1-6AB5-3BFD-B10E3F4CDCE4}"/>
              </a:ext>
            </a:extLst>
          </p:cNvPr>
          <p:cNvSpPr txBox="1"/>
          <p:nvPr/>
        </p:nvSpPr>
        <p:spPr>
          <a:xfrm>
            <a:off x="323082" y="298155"/>
            <a:ext cx="693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HSRP  CONFIGURATION: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10241D-BAE0-37E7-1B9C-241EBC41F4C1}"/>
              </a:ext>
            </a:extLst>
          </p:cNvPr>
          <p:cNvSpPr txBox="1"/>
          <p:nvPr/>
        </p:nvSpPr>
        <p:spPr>
          <a:xfrm>
            <a:off x="323082" y="1304195"/>
            <a:ext cx="6096001" cy="3076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 A was configured as Active Router.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 B was configured as Standby Router.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IP Address: 192.168.1.254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HSRP provides automatic failover and gateway redundancy.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A62AA-C2D5-591A-1551-F37E1E178FA2}"/>
              </a:ext>
            </a:extLst>
          </p:cNvPr>
          <p:cNvSpPr txBox="1"/>
          <p:nvPr/>
        </p:nvSpPr>
        <p:spPr>
          <a:xfrm>
            <a:off x="6186785" y="1495354"/>
            <a:ext cx="4147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4DA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 A HSRP Status: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32A3C5-6C49-ED7A-7247-86255D145D3B}"/>
              </a:ext>
            </a:extLst>
          </p:cNvPr>
          <p:cNvSpPr txBox="1"/>
          <p:nvPr/>
        </p:nvSpPr>
        <p:spPr>
          <a:xfrm>
            <a:off x="6186785" y="3765222"/>
            <a:ext cx="4005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4DA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 B HSRP Status: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357C85-BAFF-043E-469D-14E2183F3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70" r="3155"/>
          <a:stretch>
            <a:fillRect/>
          </a:stretch>
        </p:blipFill>
        <p:spPr>
          <a:xfrm>
            <a:off x="6288138" y="4452469"/>
            <a:ext cx="5860213" cy="1166774"/>
          </a:xfrm>
          <a:prstGeom prst="rect">
            <a:avLst/>
          </a:prstGeom>
          <a:ln>
            <a:solidFill>
              <a:srgbClr val="4DA6FF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C84295-5A77-5C53-7594-87AD61A92E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869"/>
          <a:stretch>
            <a:fillRect/>
          </a:stretch>
        </p:blipFill>
        <p:spPr>
          <a:xfrm>
            <a:off x="6288139" y="2180283"/>
            <a:ext cx="5860213" cy="1166774"/>
          </a:xfrm>
          <a:prstGeom prst="rect">
            <a:avLst/>
          </a:prstGeom>
          <a:ln>
            <a:solidFill>
              <a:srgbClr val="4DA6FF"/>
            </a:solidFill>
          </a:ln>
        </p:spPr>
      </p:pic>
    </p:spTree>
    <p:extLst>
      <p:ext uri="{BB962C8B-B14F-4D97-AF65-F5344CB8AC3E}">
        <p14:creationId xmlns:p14="http://schemas.microsoft.com/office/powerpoint/2010/main" val="4172109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9F77C-450A-4DE4-1E5A-79348D7631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A66"/>
          </a:solidFill>
          <a:ln>
            <a:solidFill>
              <a:srgbClr val="0A2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16CE9-8EB3-EDEE-FAF3-CA9046A3852E}"/>
              </a:ext>
            </a:extLst>
          </p:cNvPr>
          <p:cNvSpPr txBox="1"/>
          <p:nvPr/>
        </p:nvSpPr>
        <p:spPr>
          <a:xfrm>
            <a:off x="359229" y="337458"/>
            <a:ext cx="79356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IMPLEMENTATION: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F34B5B-DCD9-DA7E-5EDA-B6F3F59EC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686" y="2460172"/>
            <a:ext cx="6389914" cy="1317646"/>
          </a:xfrm>
          <a:prstGeom prst="roundRect">
            <a:avLst/>
          </a:prstGeom>
          <a:ln>
            <a:solidFill>
              <a:srgbClr val="4DA6FF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1D60AE-9C08-2724-6064-6245E69243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370"/>
          <a:stretch>
            <a:fillRect/>
          </a:stretch>
        </p:blipFill>
        <p:spPr>
          <a:xfrm>
            <a:off x="5649686" y="5018313"/>
            <a:ext cx="6389914" cy="1404257"/>
          </a:xfrm>
          <a:prstGeom prst="roundRect">
            <a:avLst/>
          </a:prstGeom>
          <a:ln>
            <a:solidFill>
              <a:srgbClr val="4DA6FF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195BF0-0D96-F9B2-6226-50BD97DBE20A}"/>
              </a:ext>
            </a:extLst>
          </p:cNvPr>
          <p:cNvSpPr txBox="1"/>
          <p:nvPr/>
        </p:nvSpPr>
        <p:spPr>
          <a:xfrm>
            <a:off x="5649685" y="4284859"/>
            <a:ext cx="5290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4DA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SSH Verification: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0310C8-0F02-2650-2A8B-8C8F965FD751}"/>
              </a:ext>
            </a:extLst>
          </p:cNvPr>
          <p:cNvSpPr txBox="1"/>
          <p:nvPr/>
        </p:nvSpPr>
        <p:spPr>
          <a:xfrm>
            <a:off x="5649684" y="1711718"/>
            <a:ext cx="5290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4DA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ACL Verification: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D543EB-8FB5-31F3-2B1B-03115D3F8AF2}"/>
              </a:ext>
            </a:extLst>
          </p:cNvPr>
          <p:cNvSpPr txBox="1"/>
          <p:nvPr/>
        </p:nvSpPr>
        <p:spPr>
          <a:xfrm>
            <a:off x="359229" y="1406621"/>
            <a:ext cx="4637314" cy="299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4DA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Security:</a:t>
            </a:r>
          </a:p>
          <a:p>
            <a:pPr>
              <a:lnSpc>
                <a:spcPct val="150000"/>
              </a:lnSpc>
            </a:pPr>
            <a:endParaRPr lang="en-GB" sz="2400" b="1" dirty="0">
              <a:solidFill>
                <a:srgbClr val="4DA6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SSH Configuration</a:t>
            </a:r>
          </a:p>
          <a:p>
            <a:pPr>
              <a:lnSpc>
                <a:spcPct val="150000"/>
              </a:lnSpc>
            </a:pP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ACL Configuration</a:t>
            </a:r>
          </a:p>
          <a:p>
            <a:pPr>
              <a:lnSpc>
                <a:spcPct val="150000"/>
              </a:lnSpc>
            </a:pP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151FFB-9C73-58C1-55C4-F4506F38A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6314" y="2565321"/>
            <a:ext cx="442276" cy="4422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DE91B48-10C7-AD8D-9F41-37E7187BC2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6314" y="3464050"/>
            <a:ext cx="442276" cy="4422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D2DF81E-F596-F2D7-9A07-AADF0510BC45}"/>
              </a:ext>
            </a:extLst>
          </p:cNvPr>
          <p:cNvSpPr txBox="1"/>
          <p:nvPr/>
        </p:nvSpPr>
        <p:spPr>
          <a:xfrm>
            <a:off x="359229" y="4267603"/>
            <a:ext cx="4909457" cy="184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 Security Measures Restrict Unauthorized Access and Protect The Network.</a:t>
            </a:r>
          </a:p>
        </p:txBody>
      </p:sp>
    </p:spTree>
    <p:extLst>
      <p:ext uri="{BB962C8B-B14F-4D97-AF65-F5344CB8AC3E}">
        <p14:creationId xmlns:p14="http://schemas.microsoft.com/office/powerpoint/2010/main" val="359933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1" grpId="0"/>
      <p:bldP spid="12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1E9478-07F0-FCF6-E862-EA2CC0115E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A66"/>
          </a:solidFill>
          <a:ln>
            <a:solidFill>
              <a:srgbClr val="0A2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747F10-0299-B160-85E8-73AF2998E495}"/>
              </a:ext>
            </a:extLst>
          </p:cNvPr>
          <p:cNvSpPr txBox="1"/>
          <p:nvPr/>
        </p:nvSpPr>
        <p:spPr>
          <a:xfrm>
            <a:off x="315685" y="337457"/>
            <a:ext cx="7815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CONNECTIVITY TESTING: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B35355-0900-8210-E0E4-BC048115D5CC}"/>
              </a:ext>
            </a:extLst>
          </p:cNvPr>
          <p:cNvSpPr txBox="1"/>
          <p:nvPr/>
        </p:nvSpPr>
        <p:spPr>
          <a:xfrm>
            <a:off x="402771" y="907340"/>
            <a:ext cx="6705601" cy="3666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GB" sz="2400" b="1" dirty="0">
                <a:solidFill>
                  <a:srgbClr val="4DA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Tests Performed:</a:t>
            </a:r>
          </a:p>
          <a:p>
            <a:pPr>
              <a:lnSpc>
                <a:spcPct val="250000"/>
              </a:lnSpc>
            </a:pP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PC1  &gt;  Virtual IP</a:t>
            </a:r>
          </a:p>
          <a:p>
            <a:pPr>
              <a:lnSpc>
                <a:spcPct val="250000"/>
              </a:lnSpc>
            </a:pP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PC2  &gt;  Virtual IP</a:t>
            </a:r>
          </a:p>
          <a:p>
            <a:pPr>
              <a:lnSpc>
                <a:spcPct val="250000"/>
              </a:lnSpc>
            </a:pP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PC1  &gt;   PC2</a:t>
            </a:r>
          </a:p>
          <a:p>
            <a:pPr>
              <a:lnSpc>
                <a:spcPct val="250000"/>
              </a:lnSpc>
            </a:pP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PC2  &gt;   PC1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B24232-C54B-4EF4-366C-87355132B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02771" y="4103808"/>
            <a:ext cx="442276" cy="4422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38A6F0-2C64-2676-9EFB-3E2778FA1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02771" y="2756630"/>
            <a:ext cx="442276" cy="442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1373E6-6FD5-0E96-B075-F3C1EA5E7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02771" y="2132299"/>
            <a:ext cx="442276" cy="4422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E0E9DD-39C7-3008-32FF-A26D59FFC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02771" y="3429000"/>
            <a:ext cx="442276" cy="4422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2AA0F0-E1F4-73FE-B19F-BA61115FA713}"/>
              </a:ext>
            </a:extLst>
          </p:cNvPr>
          <p:cNvSpPr txBox="1"/>
          <p:nvPr/>
        </p:nvSpPr>
        <p:spPr>
          <a:xfrm>
            <a:off x="402771" y="5061857"/>
            <a:ext cx="4343400" cy="1229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 Connectivity  Tests Passed  Successfully.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2C78ED1-17F4-1AD4-67AB-D2E48ABB3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084" y="1353434"/>
            <a:ext cx="3593259" cy="2455695"/>
          </a:xfrm>
          <a:prstGeom prst="rect">
            <a:avLst/>
          </a:prstGeom>
          <a:ln>
            <a:solidFill>
              <a:srgbClr val="4DA6FF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979B5A9-182B-956C-FC9A-4594BD3564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0486" y="1328932"/>
            <a:ext cx="3850300" cy="2472440"/>
          </a:xfrm>
          <a:prstGeom prst="rect">
            <a:avLst/>
          </a:prstGeom>
          <a:ln>
            <a:solidFill>
              <a:srgbClr val="4DA6FF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55FE5C-0335-3531-2490-20BF2368FC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085" y="4103808"/>
            <a:ext cx="7715701" cy="997001"/>
          </a:xfrm>
          <a:prstGeom prst="rect">
            <a:avLst/>
          </a:prstGeom>
          <a:ln>
            <a:solidFill>
              <a:srgbClr val="4DA6FF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6DA2120-8585-9726-6BDC-736FE3A744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085" y="5456665"/>
            <a:ext cx="7715701" cy="1028753"/>
          </a:xfrm>
          <a:prstGeom prst="rect">
            <a:avLst/>
          </a:prstGeom>
          <a:ln>
            <a:solidFill>
              <a:srgbClr val="4DA6FF"/>
            </a:solidFill>
          </a:ln>
        </p:spPr>
      </p:pic>
    </p:spTree>
    <p:extLst>
      <p:ext uri="{BB962C8B-B14F-4D97-AF65-F5344CB8AC3E}">
        <p14:creationId xmlns:p14="http://schemas.microsoft.com/office/powerpoint/2010/main" val="1204822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0B5694-948C-5CD3-E32E-8F5F47877D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A66"/>
          </a:solidFill>
          <a:ln>
            <a:solidFill>
              <a:srgbClr val="0A2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C6752C-365D-4768-31BB-C84DA0032A6E}"/>
              </a:ext>
            </a:extLst>
          </p:cNvPr>
          <p:cNvSpPr txBox="1"/>
          <p:nvPr/>
        </p:nvSpPr>
        <p:spPr>
          <a:xfrm>
            <a:off x="315685" y="337457"/>
            <a:ext cx="102978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FAILOVER AND RECOVERY TESTING: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BB4765-AEF9-96F1-FC89-1138733BF710}"/>
              </a:ext>
            </a:extLst>
          </p:cNvPr>
          <p:cNvCxnSpPr>
            <a:cxnSpLocks/>
          </p:cNvCxnSpPr>
          <p:nvPr/>
        </p:nvCxnSpPr>
        <p:spPr>
          <a:xfrm>
            <a:off x="5998029" y="1545771"/>
            <a:ext cx="0" cy="5148943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BFDB12B-381F-EBEF-6D8E-CDC56C7E167F}"/>
              </a:ext>
            </a:extLst>
          </p:cNvPr>
          <p:cNvSpPr txBox="1"/>
          <p:nvPr/>
        </p:nvSpPr>
        <p:spPr>
          <a:xfrm>
            <a:off x="1099865" y="1203781"/>
            <a:ext cx="4408710" cy="1968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Failover Test:</a:t>
            </a:r>
          </a:p>
          <a:p>
            <a:pPr>
              <a:lnSpc>
                <a:spcPct val="200000"/>
              </a:lnSpc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 A was Shutdown</a:t>
            </a:r>
          </a:p>
          <a:p>
            <a:pPr>
              <a:lnSpc>
                <a:spcPct val="200000"/>
              </a:lnSpc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 B Automatically Became Active.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3F4F47-1F89-7DE3-0646-BF0C04C93B66}"/>
              </a:ext>
            </a:extLst>
          </p:cNvPr>
          <p:cNvSpPr txBox="1"/>
          <p:nvPr/>
        </p:nvSpPr>
        <p:spPr>
          <a:xfrm>
            <a:off x="6976938" y="1203781"/>
            <a:ext cx="4865916" cy="1968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sz="24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Recovery Test:</a:t>
            </a:r>
          </a:p>
          <a:p>
            <a:pPr>
              <a:lnSpc>
                <a:spcPct val="200000"/>
              </a:lnSpc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 A was Restored.</a:t>
            </a:r>
          </a:p>
          <a:p>
            <a:pPr>
              <a:lnSpc>
                <a:spcPct val="200000"/>
              </a:lnSpc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 A Resumed The Active Role.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A25FA5B-9A0A-EE67-B851-253FBDEF6C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598" t="24762" r="15503" b="29206"/>
          <a:stretch>
            <a:fillRect/>
          </a:stretch>
        </p:blipFill>
        <p:spPr>
          <a:xfrm>
            <a:off x="6205456" y="1403024"/>
            <a:ext cx="623153" cy="6188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48095AA-372D-9116-3EAC-11DCF1BD60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08" t="25388" r="54339" b="30408"/>
          <a:stretch>
            <a:fillRect/>
          </a:stretch>
        </p:blipFill>
        <p:spPr>
          <a:xfrm>
            <a:off x="393091" y="1447079"/>
            <a:ext cx="586213" cy="57483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BFFA17E-DFF2-172D-3B89-7537F59F856A}"/>
              </a:ext>
            </a:extLst>
          </p:cNvPr>
          <p:cNvSpPr txBox="1"/>
          <p:nvPr/>
        </p:nvSpPr>
        <p:spPr>
          <a:xfrm>
            <a:off x="315685" y="3342980"/>
            <a:ext cx="4626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4DA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Failover (Router B Active):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2A9D4D-4278-1F17-1D8E-4D827BC69EFA}"/>
              </a:ext>
            </a:extLst>
          </p:cNvPr>
          <p:cNvSpPr txBox="1"/>
          <p:nvPr/>
        </p:nvSpPr>
        <p:spPr>
          <a:xfrm>
            <a:off x="6193972" y="3298925"/>
            <a:ext cx="4669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4DA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Recovery (Router A Active):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D0A6EBA-D514-B557-9374-6A191047BF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92" y="3804645"/>
            <a:ext cx="5397512" cy="2890069"/>
          </a:xfrm>
          <a:prstGeom prst="rect">
            <a:avLst/>
          </a:prstGeom>
          <a:ln>
            <a:solidFill>
              <a:srgbClr val="4DA6FF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3A508D3-D608-AD50-74E3-17E60A84DE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998" y="3804645"/>
            <a:ext cx="5747060" cy="2890069"/>
          </a:xfrm>
          <a:prstGeom prst="rect">
            <a:avLst/>
          </a:prstGeom>
          <a:ln>
            <a:solidFill>
              <a:srgbClr val="4DA6FF"/>
            </a:solidFill>
          </a:ln>
        </p:spPr>
      </p:pic>
    </p:spTree>
    <p:extLst>
      <p:ext uri="{BB962C8B-B14F-4D97-AF65-F5344CB8AC3E}">
        <p14:creationId xmlns:p14="http://schemas.microsoft.com/office/powerpoint/2010/main" val="138383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4" grpId="0"/>
      <p:bldP spid="19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8FB67D-100E-BBF5-8F3B-A3D32A61B8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A66"/>
          </a:solidFill>
          <a:ln>
            <a:solidFill>
              <a:srgbClr val="0A2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033C1-4EED-641F-EFF5-B5056E152DDE}"/>
              </a:ext>
            </a:extLst>
          </p:cNvPr>
          <p:cNvSpPr txBox="1"/>
          <p:nvPr/>
        </p:nvSpPr>
        <p:spPr>
          <a:xfrm>
            <a:off x="315685" y="337457"/>
            <a:ext cx="7815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RESULTS: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0A8C6F-658B-CC60-A65C-5074D9E958FE}"/>
              </a:ext>
            </a:extLst>
          </p:cNvPr>
          <p:cNvSpPr txBox="1"/>
          <p:nvPr/>
        </p:nvSpPr>
        <p:spPr>
          <a:xfrm>
            <a:off x="348341" y="1121684"/>
            <a:ext cx="6705601" cy="3076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Latency: 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 35 ms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Throughout Remained Stable During Testing.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ping test was performed on the HSRP Virtual IP (192.168.1.254).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significant interruption was observed.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4D81C8C-8C0A-912A-7886-682D28F53460}"/>
              </a:ext>
            </a:extLst>
          </p:cNvPr>
          <p:cNvSpPr/>
          <p:nvPr/>
        </p:nvSpPr>
        <p:spPr>
          <a:xfrm>
            <a:off x="348342" y="4303786"/>
            <a:ext cx="2830287" cy="401254"/>
          </a:xfrm>
          <a:prstGeom prst="roundRect">
            <a:avLst/>
          </a:prstGeom>
          <a:solidFill>
            <a:srgbClr val="4DA6FF"/>
          </a:solidFill>
          <a:ln>
            <a:solidFill>
              <a:srgbClr val="4DA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Summary: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CC78A-4818-1D0E-2BD5-98B4A4281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799" y="1298939"/>
            <a:ext cx="4757057" cy="5221604"/>
          </a:xfrm>
          <a:prstGeom prst="rect">
            <a:avLst/>
          </a:prstGeom>
          <a:ln>
            <a:solidFill>
              <a:srgbClr val="4DA6FF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0F7560-5174-1C26-4A00-1869C73F139A}"/>
              </a:ext>
            </a:extLst>
          </p:cNvPr>
          <p:cNvSpPr txBox="1"/>
          <p:nvPr/>
        </p:nvSpPr>
        <p:spPr>
          <a:xfrm>
            <a:off x="424542" y="4763183"/>
            <a:ext cx="7282544" cy="184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Connectivity    :  </a:t>
            </a:r>
            <a:r>
              <a:rPr lang="en-GB" sz="20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  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ACL                  :  </a:t>
            </a:r>
            <a:r>
              <a:rPr lang="en-GB" sz="20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</a:p>
          <a:p>
            <a:pPr>
              <a:lnSpc>
                <a:spcPct val="200000"/>
              </a:lnSpc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Failover            :  </a:t>
            </a:r>
            <a:r>
              <a:rPr lang="en-GB" sz="20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  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SSH                   :  </a:t>
            </a:r>
            <a:r>
              <a:rPr lang="en-GB" sz="20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</a:p>
          <a:p>
            <a:pPr>
              <a:lnSpc>
                <a:spcPct val="200000"/>
              </a:lnSpc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Recovery          :  </a:t>
            </a:r>
            <a:r>
              <a:rPr lang="en-GB" sz="20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  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Performance      :  </a:t>
            </a:r>
            <a:r>
              <a:rPr lang="en-GB" sz="20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F1B6DB-A314-97F5-5916-CC27E06F3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27714" y="6233437"/>
            <a:ext cx="401253" cy="4012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89C2197-E4BA-864E-6107-5B8315CBF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10625" y="5592685"/>
            <a:ext cx="401253" cy="4012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94CB9BC-8A16-BF37-336F-99E415021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10624" y="4981107"/>
            <a:ext cx="401253" cy="4012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84E27E-2D33-E7B7-F9B2-8EF7702FA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48342" y="6199765"/>
            <a:ext cx="401253" cy="40125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C8015D7-9689-009F-F9CC-E6B13B003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48341" y="5575860"/>
            <a:ext cx="401253" cy="4012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56AF79B-97B6-AF20-D275-7628143C0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48340" y="4968895"/>
            <a:ext cx="401253" cy="40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70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B2FE88-170D-7209-A5CC-B2EBC79248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A66"/>
          </a:solidFill>
          <a:ln>
            <a:solidFill>
              <a:srgbClr val="0A2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5734D21B-C3A0-EDC8-9C1A-2A735F44D664}"/>
              </a:ext>
            </a:extLst>
          </p:cNvPr>
          <p:cNvSpPr/>
          <p:nvPr/>
        </p:nvSpPr>
        <p:spPr>
          <a:xfrm>
            <a:off x="381000" y="228600"/>
            <a:ext cx="11473543" cy="6346371"/>
          </a:xfrm>
          <a:prstGeom prst="frame">
            <a:avLst>
              <a:gd name="adj1" fmla="val 40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E5EAA9-F744-6942-1B75-B0BF29860175}"/>
              </a:ext>
            </a:extLst>
          </p:cNvPr>
          <p:cNvSpPr txBox="1"/>
          <p:nvPr/>
        </p:nvSpPr>
        <p:spPr>
          <a:xfrm>
            <a:off x="740228" y="0"/>
            <a:ext cx="11212286" cy="6135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>
              <a:lnSpc>
                <a:spcPct val="200000"/>
              </a:lnSpc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HSRP-based high availability network was successfully implemented and tested.</a:t>
            </a:r>
          </a:p>
          <a:p>
            <a:pPr>
              <a:lnSpc>
                <a:spcPct val="200000"/>
              </a:lnSpc>
            </a:pPr>
            <a:r>
              <a:rPr lang="en-GB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Contributions:</a:t>
            </a:r>
          </a:p>
          <a:p>
            <a:pPr>
              <a:lnSpc>
                <a:spcPct val="200000"/>
              </a:lnSpc>
            </a:pPr>
            <a:r>
              <a:rPr lang="en-GB" sz="2400" b="1" dirty="0">
                <a:solidFill>
                  <a:srgbClr val="4DA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Sumaiya:  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HSRP and Network Configuration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GB" sz="2400" b="1" dirty="0">
                <a:solidFill>
                  <a:srgbClr val="4DA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Rameen:   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ACL, SSH and Security Testing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GB" sz="2400" b="1" dirty="0">
                <a:solidFill>
                  <a:srgbClr val="4DA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Eshmal:    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Connectivity and Performance Testing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GB" sz="2400" b="1" dirty="0">
                <a:solidFill>
                  <a:srgbClr val="4DA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Tayyaba:  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and Presentation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499FB0-9E78-2673-B24A-5A428D89FD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03" t="18629" r="22711" b="25882"/>
          <a:stretch>
            <a:fillRect/>
          </a:stretch>
        </p:blipFill>
        <p:spPr>
          <a:xfrm>
            <a:off x="9982200" y="844416"/>
            <a:ext cx="1251857" cy="12429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1C07D9-21BA-F552-9592-135D6FE47C9E}"/>
              </a:ext>
            </a:extLst>
          </p:cNvPr>
          <p:cNvSpPr txBox="1"/>
          <p:nvPr/>
        </p:nvSpPr>
        <p:spPr>
          <a:xfrm flipH="1">
            <a:off x="7696197" y="5215020"/>
            <a:ext cx="3918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53793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362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RAMEEN JUNAID</dc:creator>
  <cp:lastModifiedBy>RAMEEN JUNAID</cp:lastModifiedBy>
  <cp:revision>1</cp:revision>
  <dcterms:created xsi:type="dcterms:W3CDTF">2026-06-09T17:16:39Z</dcterms:created>
  <dcterms:modified xsi:type="dcterms:W3CDTF">2026-06-09T22:56:13Z</dcterms:modified>
</cp:coreProperties>
</file>